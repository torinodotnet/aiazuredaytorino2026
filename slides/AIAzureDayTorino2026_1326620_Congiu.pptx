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xml:lang="en-US">
  <p:sldMasterIdLst>
    <p:sldMasterId id="2147483733" r:id="rId3"/>
    <p:sldMasterId id="2147483720" r:id="rId4"/>
    <p:sldMasterId id="2147483708" r:id="rId5"/>
    <p:sldMasterId id="2147483672" r:id="rId6"/>
    <p:sldMasterId id="2147483684" r:id="rId7"/>
  </p:sldMasterIdLst>
  <p:notesMasterIdLst>
    <p:notesMasterId r:id="rId8"/>
  </p:notesMasterIdLst>
  <p:handoutMasterIdLst>
    <p:handoutMasterId r:id="rId9"/>
  </p:handoutMasterIdLst>
  <p:sldIdLst>
    <p:sldId id="256" r:id="rId14"/>
    <p:sldId id="257" r:id="rId15"/>
    <p:sldId id="258" r:id="rId16"/>
    <p:sldId id="259" r:id="rId17"/>
    <p:sldId id="260" r:id="rId18"/>
    <p:sldId id="261" r:id="rId19"/>
    <p:sldId id="262" r:id="rId20"/>
    <p:sldId id="263"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EFD485"/>
    <a:srgbClr val="0B78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4868" autoAdjust="0"/>
    <p:restoredTop sz="94949" autoAdjust="0"/>
  </p:normalViewPr>
  <p:slideViewPr>
    <p:cSldViewPr snapToGrid="0">
      <p:cViewPr varScale="1">
        <p:scale>
          <a:sx n="61" d="100"/>
          <a:sy n="61" d="100"/>
        </p:scale>
        <p:origin x="248" y="150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A8BE3D86-4CD7-F31D-54B6-EE995848C4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B268F4FE-A203-8B8F-CC9E-A2DCEF75E9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A74DD2-8E53-470B-8646-02BB9552BE22}" type="datetimeFigureOut">
              <a:rPr lang="it-IT" smtClean="0"/>
              <a:t>28/09/26</a:t>
            </a:fld>
            <a:endParaRPr lang="it-IT"/>
          </a:p>
        </p:txBody>
      </p:sp>
      <p:sp>
        <p:nvSpPr>
          <p:cNvPr id="4" name="Segnaposto piè di pagina 3">
            <a:extLst>
              <a:ext uri="{FF2B5EF4-FFF2-40B4-BE49-F238E27FC236}">
                <a16:creationId xmlns:a16="http://schemas.microsoft.com/office/drawing/2014/main" id="{BC51FBA9-2186-3F38-F1ED-F34B57E890B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83969695-C27F-4316-765E-65C28A0278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BBB95B-02C2-41BB-A9B7-DDBB724675E3}" type="slidenum">
              <a:rPr lang="it-IT" smtClean="0"/>
              <a:t>‹N›</a:t>
            </a:fld>
            <a:endParaRPr lang="it-IT"/>
          </a:p>
        </p:txBody>
      </p:sp>
    </p:spTree>
    <p:extLst>
      <p:ext uri="{BB962C8B-B14F-4D97-AF65-F5344CB8AC3E}">
        <p14:creationId xmlns:p14="http://schemas.microsoft.com/office/powerpoint/2010/main" val="144092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C294-2F5E-402F-ADF7-7076FF27C349}" type="datetimeFigureOut">
              <a:rPr lang="it-IT" smtClean="0"/>
              <a:t>28/09/26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0288A-C98E-4CBE-B69D-C060B2E07BEB}" type="slidenum">
              <a:rPr lang="it-IT" smtClean="0"/>
              <a:t>‹N›</a:t>
            </a:fld>
            <a:endParaRPr lang="it-IT"/>
          </a:p>
        </p:txBody>
      </p:sp>
    </p:spTree>
    <p:extLst>
      <p:ext uri="{BB962C8B-B14F-4D97-AF65-F5344CB8AC3E}">
        <p14:creationId xmlns:p14="http://schemas.microsoft.com/office/powerpoint/2010/main" val="1929210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opening banner slide for 'AI Gateway: The Missing Layer of Enterprise AI'. The session is presented by: Luca Congiu. This slide sets the visual theme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title slide displaying 'AI Gateway: The Missing Layer of Enterprise AI'. Presented by: Luca Congiu. Use this slide to introduce the session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session information for 'AI Gateway: The Missing Layer of Enterprise AI'. Session description: _x000D_</a:t>
            </a:r>
          </a:p>
          <a:p>
            <a:r>
              <a:t>Le organizzazioni stanno rapidamente adottando copiloti, agenti AI e modelli generativi, ma come è possibile governare sicurezza, costi, conformità e osservabilità in un ecosistema sempre più comple.... Review the session objectives and speaker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section for 'AI Gateway: The Missing Layer of Enterprise AI'. This slide is for live demonstrations. Ensure all demo materials are prepared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slide for 'AI Gateway: The Missing Layer of Enterprise AI'. This is time for audience questions and discussion. Prepare to address common questions about the topic and invite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slide for 'AI Gateway: The Missing Layer of Enterprise AI'. Ask audience to scan the QR code or visit https://vote.dotnetdev.it/vote/l44tzzta/1326620 to vote. Emphasize the importance of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jpeg"/><Relationship Id="rId5"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4.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jpeg"/><Relationship Id="rId5" Type="http://schemas.openxmlformats.org/officeDocument/2006/relationships/image" Target="../media/image5.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0.png"/><Relationship Id="rId9" Type="http://schemas.openxmlformats.org/officeDocument/2006/relationships/image" Target="../media/image14.png"/><Relationship Id="rId10"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425251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rgbClr val="EFD485"/>
        </a:solidFill>
        <a:effectLst/>
      </p:bgPr>
    </p:bg>
    <p:spTree>
      <p:nvGrpSpPr>
        <p:cNvPr id="1" name="Shape 9"/>
        <p:cNvGrpSpPr/>
        <p:nvPr/>
      </p:nvGrpSpPr>
      <p:grpSpPr>
        <a:xfrm>
          <a:off x="0" y="0"/>
          <a:ext cx="0" cy="0"/>
          <a:chOff x="0" y="0"/>
          <a:chExt cx="0" cy="0"/>
        </a:xfrm>
      </p:grpSpPr>
      <p:sp>
        <p:nvSpPr>
          <p:cNvPr id="11" name="Google Shape;11;p2"/>
          <p:cNvSpPr txBox="1">
            <a:spLocks noGrp="1"/>
          </p:cNvSpPr>
          <p:nvPr>
            <p:ph type="ctrTitle" hasCustomPrompt="1"/>
          </p:nvPr>
        </p:nvSpPr>
        <p:spPr>
          <a:xfrm>
            <a:off x="4379200" y="35644"/>
            <a:ext cx="7812800" cy="3133956"/>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44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pic>
        <p:nvPicPr>
          <p:cNvPr id="7" name="Immagine 6">
            <a:extLst>
              <a:ext uri="{FF2B5EF4-FFF2-40B4-BE49-F238E27FC236}">
                <a16:creationId xmlns:a16="http://schemas.microsoft.com/office/drawing/2014/main" id="{B8B7FDCE-5AB0-0496-3C32-CD549583896F}"/>
              </a:ext>
            </a:extLst>
          </p:cNvPr>
          <p:cNvPicPr>
            <a:picLocks noChangeAspect="1"/>
          </p:cNvPicPr>
          <p:nvPr userDrawn="1"/>
        </p:nvPicPr>
        <p:blipFill>
          <a:blip r:embed="rId2">
            <a:extLst>
              <a:ext uri="{28A0092B-C50C-407E-A947-70E740481C1C}">
                <a14:useLocalDpi xmlns:a14="http://schemas.microsoft.com/office/drawing/2010/main" val="0"/>
              </a:ext>
            </a:extLst>
          </a:blip>
          <a:srcRect t="56744"/>
          <a:stretch>
            <a:fillRect/>
          </a:stretch>
        </p:blipFill>
        <p:spPr>
          <a:xfrm>
            <a:off x="0" y="3891516"/>
            <a:ext cx="12192000" cy="2966484"/>
          </a:xfrm>
          <a:prstGeom prst="rect">
            <a:avLst/>
          </a:prstGeom>
        </p:spPr>
      </p:pic>
    </p:spTree>
    <p:extLst>
      <p:ext uri="{BB962C8B-B14F-4D97-AF65-F5344CB8AC3E}">
        <p14:creationId xmlns:p14="http://schemas.microsoft.com/office/powerpoint/2010/main" val="2649634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3243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srgbClr val="3B3838"/>
                </a:solidFill>
                <a:effectLst/>
                <a:uLnTx/>
                <a:uFillTx/>
                <a:latin typeface="Calibri" panose="020F0502020204030204"/>
                <a:ea typeface="+mn-ea"/>
                <a:cs typeface="+mn-cs"/>
              </a:rPr>
              <a:t>Titolo</a:t>
            </a:r>
          </a:p>
        </p:txBody>
      </p:sp>
      <p:sp>
        <p:nvSpPr>
          <p:cNvPr id="3" name="Title 2">
            <a:extLst>
              <a:ext uri="{FF2B5EF4-FFF2-40B4-BE49-F238E27FC236}">
                <a16:creationId xmlns:a16="http://schemas.microsoft.com/office/drawing/2014/main" id="{37CEDCFE-2CDD-6133-F929-5516C5D66B9A}"/>
              </a:ext>
            </a:extLst>
          </p:cNvPr>
          <p:cNvSpPr>
            <a:spLocks noGrp="1"/>
          </p:cNvSpPr>
          <p:nvPr>
            <p:ph type="title"/>
          </p:nvPr>
        </p:nvSpPr>
        <p:spPr>
          <a:xfrm>
            <a:off x="1314450" y="-28924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333483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5400" b="0" i="0" u="none" strike="noStrike" kern="1200" cap="none" spc="0" normalizeH="0" baseline="0" noProof="0" dirty="0">
              <a:ln>
                <a:noFill/>
              </a:ln>
              <a:solidFill>
                <a:srgbClr val="0B78BD"/>
              </a:solidFill>
              <a:effectLst/>
              <a:uLnTx/>
              <a:uFillTx/>
              <a:latin typeface="Calibri" panose="020F0502020204030204"/>
              <a:ea typeface="+mn-ea"/>
              <a:cs typeface="+mn-cs"/>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2459192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it-IT" sz="1800" b="0" i="0" u="none" strike="noStrike" kern="1200" cap="none" spc="0" normalizeH="0" baseline="0" noProof="0" dirty="0" err="1">
                <a:ln>
                  <a:noFill/>
                </a:ln>
                <a:solidFill>
                  <a:prstClr val="black"/>
                </a:solidFill>
                <a:effectLst/>
                <a:uLnTx/>
                <a:uFillTx/>
                <a:latin typeface="Calibri" panose="020F0502020204030204"/>
                <a:ea typeface="+mn-ea"/>
                <a:cs typeface="+mn-cs"/>
              </a:rPr>
              <a:t>AzureDayTorino</a:t>
            </a: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412488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118047" y="-3837229"/>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
        <p:nvSpPr>
          <p:cNvPr id="2" name="TextBox 1">
            <a:extLst>
              <a:ext uri="{FF2B5EF4-FFF2-40B4-BE49-F238E27FC236}">
                <a16:creationId xmlns:a16="http://schemas.microsoft.com/office/drawing/2014/main" id="{A43EA002-27DD-2DF0-5B8E-E5D0488B87F0}"/>
              </a:ext>
            </a:extLst>
          </p:cNvPr>
          <p:cNvSpPr txBox="1"/>
          <p:nvPr userDrawn="1"/>
        </p:nvSpPr>
        <p:spPr>
          <a:xfrm>
            <a:off x="1562100" y="438150"/>
            <a:ext cx="1009834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prstClr val="white"/>
                </a:solidFill>
                <a:effectLst/>
                <a:uLnTx/>
                <a:uFillTx/>
                <a:latin typeface="Calibri" panose="020F0502020204030204"/>
                <a:ea typeface="+mn-ea"/>
                <a:cs typeface="+mn-cs"/>
              </a:rPr>
              <a:t>Demo</a:t>
            </a:r>
          </a:p>
        </p:txBody>
      </p:sp>
    </p:spTree>
    <p:extLst>
      <p:ext uri="{BB962C8B-B14F-4D97-AF65-F5344CB8AC3E}">
        <p14:creationId xmlns:p14="http://schemas.microsoft.com/office/powerpoint/2010/main" val="3797794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394580"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247313"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77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219922"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2764771" y="488964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68942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576776" y="1600200"/>
            <a:ext cx="11205921"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576775" y="4344194"/>
            <a:ext cx="1120592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07881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1015115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576776" y="1736726"/>
            <a:ext cx="11205921"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576776" y="4596754"/>
            <a:ext cx="1120592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526841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581759" y="1825625"/>
            <a:ext cx="5129723"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652974" y="1825625"/>
            <a:ext cx="5129723"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23101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576775" y="167420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576775"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563584" y="168116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563584"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66126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8339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576776" y="1587657"/>
            <a:ext cx="4360984" cy="888865"/>
          </a:xfrm>
        </p:spPr>
        <p:txBody>
          <a:bodyPr anchor="b"/>
          <a:lstStyle>
            <a:lvl1pPr>
              <a:defRPr sz="3200">
                <a:solidFill>
                  <a:srgbClr val="0B78BD"/>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552031" y="1587657"/>
            <a:ext cx="623066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576776" y="2880880"/>
            <a:ext cx="4360984"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79FE1DD2-21EE-470A-9002-2A465A11EC14}"/>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204125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576776" y="1528096"/>
            <a:ext cx="4360984" cy="1031965"/>
          </a:xfrm>
        </p:spPr>
        <p:txBody>
          <a:bodyPr anchor="b"/>
          <a:lstStyle>
            <a:lvl1pPr>
              <a:defRPr sz="3200">
                <a:solidFill>
                  <a:srgbClr val="0B78BD"/>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753687" y="1515291"/>
            <a:ext cx="6029010"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576776" y="2807711"/>
            <a:ext cx="4360984"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FFE944BF-EBE0-41F2-8211-C03DD2ED131E}"/>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71168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890038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0B78BD"/>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3493092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1523999" y="1600200"/>
            <a:ext cx="10258698"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1523999" y="4344194"/>
            <a:ext cx="10258697"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1848029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7773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1619794" y="1736726"/>
            <a:ext cx="10162903"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1619794" y="4596754"/>
            <a:ext cx="1016290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4291266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1607193" y="1825625"/>
            <a:ext cx="4713052"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897189" y="1825625"/>
            <a:ext cx="4885508"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22485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1619795"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1619795"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910251"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910251"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42416754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676887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52777D80-3793-46C5-9B6B-BF992CAF3CCE}"/>
              </a:ext>
            </a:extLst>
          </p:cNvPr>
          <p:cNvSpPr/>
          <p:nvPr userDrawn="1"/>
        </p:nvSpPr>
        <p:spPr>
          <a:xfrm>
            <a:off x="0" y="6195216"/>
            <a:ext cx="12192000" cy="662783"/>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solidFill>
                  <a:schemeClr val="bg1"/>
                </a:solidFill>
              </a:defRPr>
            </a:lvl1pPr>
          </a:lstStyle>
          <a:p>
            <a:r>
              <a:rPr lang="it-IT" dirty="0"/>
              <a:t>#AzureDayRome</a:t>
            </a: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lvl1pPr>
              <a:defRPr>
                <a:solidFill>
                  <a:schemeClr val="bg1"/>
                </a:solidFill>
              </a:defRPr>
            </a:lvl1p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79626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1619794" y="1587657"/>
            <a:ext cx="3932237"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839097" y="1587657"/>
            <a:ext cx="5943600"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1619794" y="2880880"/>
            <a:ext cx="3932237"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8C52628-7CD8-4B9E-85F2-AA6D0F451AE1}"/>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a:t>Fare clic per modificare lo stile del titolo </a:t>
            </a:r>
            <a:endParaRPr lang="it-IT" dirty="0"/>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88695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1619794" y="1515291"/>
            <a:ext cx="3932237"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969725" y="1515291"/>
            <a:ext cx="5812971"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1619793" y="2761388"/>
            <a:ext cx="3932237"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0BE16406-DCB4-4984-8046-F9EFFF081186}"/>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dirty="0"/>
              <a:t>Fare clic per modificare lo stile del titolo </a:t>
            </a:r>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867946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3287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7620568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2625633" y="1600200"/>
            <a:ext cx="9157063"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2625634" y="4344194"/>
            <a:ext cx="91570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2625633" y="316559"/>
            <a:ext cx="9157064"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58953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597384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2625634" y="1736726"/>
            <a:ext cx="9157063"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2625634" y="4596754"/>
            <a:ext cx="915706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2468324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2625634" y="1835513"/>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7458891" y="1825625"/>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458700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2625634" y="1664155"/>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2625633" y="2527640"/>
            <a:ext cx="4193179"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7589519" y="1681163"/>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7589519" y="2505075"/>
            <a:ext cx="4193177"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2625633" y="316559"/>
            <a:ext cx="9157064"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9003091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7235201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7281375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2625634" y="1587657"/>
            <a:ext cx="3592286"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6639971" y="1587657"/>
            <a:ext cx="514272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2625634" y="2874869"/>
            <a:ext cx="3592286"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191508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2625635" y="1481773"/>
            <a:ext cx="3470366"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6609807" y="1481773"/>
            <a:ext cx="5172890" cy="43792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2625635" y="2740387"/>
            <a:ext cx="3470366"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3925617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0381242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2625634" y="1554479"/>
            <a:ext cx="6528164"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059637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ferenc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7728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type="title" preserve="1">
  <p:cSld name="Speaker Intro 2">
    <p:bg>
      <p:bgPr>
        <a:solidFill>
          <a:srgbClr val="EFD485"/>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A3200B19-1F80-1FD4-FF41-354F78E65298}"/>
              </a:ext>
            </a:extLst>
          </p:cNvPr>
          <p:cNvPicPr>
            <a:picLocks noChangeAspect="1"/>
          </p:cNvPicPr>
          <p:nvPr userDrawn="1"/>
        </p:nvPicPr>
        <p:blipFill>
          <a:blip r:embed="rId2">
            <a:extLst>
              <a:ext uri="{28A0092B-C50C-407E-A947-70E740481C1C}">
                <a14:useLocalDpi xmlns:a14="http://schemas.microsoft.com/office/drawing/2010/main" val="0"/>
              </a:ext>
            </a:extLst>
          </a:blip>
          <a:srcRect t="54574"/>
          <a:stretch>
            <a:fillRect/>
          </a:stretch>
        </p:blipFill>
        <p:spPr>
          <a:xfrm>
            <a:off x="0" y="3742660"/>
            <a:ext cx="12192000" cy="3115340"/>
          </a:xfrm>
          <a:prstGeom prst="rect">
            <a:avLst/>
          </a:prstGeom>
        </p:spPr>
      </p:pic>
      <p:sp>
        <p:nvSpPr>
          <p:cNvPr id="11" name="Google Shape;11;p2"/>
          <p:cNvSpPr txBox="1">
            <a:spLocks noGrp="1"/>
          </p:cNvSpPr>
          <p:nvPr>
            <p:ph type="ctrTitle" hasCustomPrompt="1"/>
          </p:nvPr>
        </p:nvSpPr>
        <p:spPr>
          <a:xfrm>
            <a:off x="4379200" y="1289756"/>
            <a:ext cx="7812800" cy="36884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66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spTree>
    <p:extLst>
      <p:ext uri="{BB962C8B-B14F-4D97-AF65-F5344CB8AC3E}">
        <p14:creationId xmlns:p14="http://schemas.microsoft.com/office/powerpoint/2010/main" val="3929018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476789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4400" dirty="0">
                <a:solidFill>
                  <a:srgbClr val="3B3838"/>
                </a:solidFill>
              </a:rPr>
              <a:t>Titolo</a:t>
            </a:r>
          </a:p>
        </p:txBody>
      </p:sp>
    </p:spTree>
    <p:extLst>
      <p:ext uri="{BB962C8B-B14F-4D97-AF65-F5344CB8AC3E}">
        <p14:creationId xmlns:p14="http://schemas.microsoft.com/office/powerpoint/2010/main" val="202103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peaker Intr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C27300C4-421D-4405-87C1-01BBAA9D102A}"/>
              </a:ext>
            </a:extLst>
          </p:cNvPr>
          <p:cNvSpPr/>
          <p:nvPr userDrawn="1"/>
        </p:nvSpPr>
        <p:spPr>
          <a:xfrm>
            <a:off x="4799426" y="1890747"/>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2">
            <a:extLst>
              <a:ext uri="{FF2B5EF4-FFF2-40B4-BE49-F238E27FC236}">
                <a16:creationId xmlns:a16="http://schemas.microsoft.com/office/drawing/2014/main" id="{3BC52BE1-DA7B-4B4B-A750-43DC5BAFD8E7}"/>
              </a:ext>
            </a:extLst>
          </p:cNvPr>
          <p:cNvSpPr/>
          <p:nvPr userDrawn="1"/>
        </p:nvSpPr>
        <p:spPr>
          <a:xfrm>
            <a:off x="0" y="5532119"/>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5400" b="0" dirty="0">
                <a:solidFill>
                  <a:srgbClr val="3B3838"/>
                </a:solidFill>
                <a:latin typeface="+mn-lt"/>
              </a:rPr>
              <a:t>Session Title</a:t>
            </a:r>
          </a:p>
        </p:txBody>
      </p:sp>
      <p:sp>
        <p:nvSpPr>
          <p:cNvPr id="5" name="Segnaposto immagine 2">
            <a:extLst>
              <a:ext uri="{FF2B5EF4-FFF2-40B4-BE49-F238E27FC236}">
                <a16:creationId xmlns:a16="http://schemas.microsoft.com/office/drawing/2014/main" id="{87C983A3-DC74-4C7F-BA9E-8FD9BACC7845}"/>
              </a:ext>
            </a:extLst>
          </p:cNvPr>
          <p:cNvSpPr>
            <a:spLocks noGrp="1"/>
          </p:cNvSpPr>
          <p:nvPr>
            <p:ph type="pic" idx="1"/>
          </p:nvPr>
        </p:nvSpPr>
        <p:spPr>
          <a:xfrm>
            <a:off x="4799426" y="1896423"/>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7" name="CasellaDiTesto 6">
            <a:extLst>
              <a:ext uri="{FF2B5EF4-FFF2-40B4-BE49-F238E27FC236}">
                <a16:creationId xmlns:a16="http://schemas.microsoft.com/office/drawing/2014/main" id="{805D74D9-99C3-442C-94A0-2256DCB3A8AD}"/>
              </a:ext>
            </a:extLst>
          </p:cNvPr>
          <p:cNvSpPr txBox="1"/>
          <p:nvPr userDrawn="1"/>
        </p:nvSpPr>
        <p:spPr>
          <a:xfrm>
            <a:off x="4799426" y="4441319"/>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7988123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5400" b="0" dirty="0">
              <a:solidFill>
                <a:srgbClr val="0B78BD"/>
              </a:solidFill>
              <a:latin typeface="+mn-lt"/>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4794735" y="3727937"/>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34556470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r>
              <a:rPr lang="it-IT" dirty="0"/>
              <a:t>Agenda</a:t>
            </a:r>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a:ln>
            <a:solidFill>
              <a:srgbClr val="EFD4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12" name="Segnaposto testo 2">
            <a:extLst>
              <a:ext uri="{FF2B5EF4-FFF2-40B4-BE49-F238E27FC236}">
                <a16:creationId xmlns:a16="http://schemas.microsoft.com/office/drawing/2014/main" id="{C75428D7-6ACD-4F9B-9159-66E4F87F735F}"/>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38727741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304AE0C-0056-49D9-A1BB-E5FD6B842774}"/>
              </a:ext>
            </a:extLst>
          </p:cNvPr>
          <p:cNvSpPr txBox="1">
            <a:spLocks/>
          </p:cNvSpPr>
          <p:nvPr userDrawn="1"/>
        </p:nvSpPr>
        <p:spPr>
          <a:xfrm rot="16200000">
            <a:off x="-1854893" y="3503863"/>
            <a:ext cx="5042195"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pPr algn="ctr"/>
            <a:r>
              <a:rPr lang="it-IT">
                <a:solidFill>
                  <a:schemeClr val="bg1"/>
                </a:solidFill>
              </a:rPr>
              <a:t>Agenda</a:t>
            </a:r>
            <a:endParaRPr lang="it-IT" dirty="0">
              <a:solidFill>
                <a:schemeClr val="bg1"/>
              </a:solidFill>
            </a:endParaRPr>
          </a:p>
        </p:txBody>
      </p:sp>
      <p:sp>
        <p:nvSpPr>
          <p:cNvPr id="8" name="Segnaposto testo 2">
            <a:extLst>
              <a:ext uri="{FF2B5EF4-FFF2-40B4-BE49-F238E27FC236}">
                <a16:creationId xmlns:a16="http://schemas.microsoft.com/office/drawing/2014/main" id="{8BBCFD4C-AEE9-4341-8F2A-49306A05990A}"/>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24004847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genda 4">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
        <p:nvSpPr>
          <p:cNvPr id="8" name="Segnaposto testo 2">
            <a:extLst>
              <a:ext uri="{FF2B5EF4-FFF2-40B4-BE49-F238E27FC236}">
                <a16:creationId xmlns:a16="http://schemas.microsoft.com/office/drawing/2014/main" id="{CD0B6E79-F9A8-427C-AAAD-533973D8E78E}"/>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7792386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uota Logo DX">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DD1460AA-79FC-1465-E8FD-4F3AAE43225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661182" y="6356350"/>
            <a:ext cx="9843532"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661182" y="316559"/>
            <a:ext cx="11121515"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Tree>
    <p:extLst>
      <p:ext uri="{BB962C8B-B14F-4D97-AF65-F5344CB8AC3E}">
        <p14:creationId xmlns:p14="http://schemas.microsoft.com/office/powerpoint/2010/main" val="33533008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r>
              <a:rPr lang="it-IT" dirty="0"/>
              <a:t>#</a:t>
            </a:r>
            <a:r>
              <a:rPr lang="it-IT" dirty="0" err="1"/>
              <a:t>AzureDayTorino</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19863775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Tree>
    <p:extLst>
      <p:ext uri="{BB962C8B-B14F-4D97-AF65-F5344CB8AC3E}">
        <p14:creationId xmlns:p14="http://schemas.microsoft.com/office/powerpoint/2010/main" val="20497279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Demo">
    <p:bg>
      <p:bgPr>
        <a:solidFill>
          <a:srgbClr val="EFD485"/>
        </a:solidFill>
        <a:effectLst/>
      </p:bgPr>
    </p:bg>
    <p:spTree>
      <p:nvGrpSpPr>
        <p:cNvPr id="1" name=""/>
        <p:cNvGrpSpPr/>
        <p:nvPr/>
      </p:nvGrpSpPr>
      <p:grpSpPr>
        <a:xfrm>
          <a:off x="0" y="0"/>
          <a:ext cx="0" cy="0"/>
          <a:chOff x="0" y="0"/>
          <a:chExt cx="0" cy="0"/>
        </a:xfrm>
      </p:grpSpPr>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a:t>Demo</a:t>
            </a:r>
          </a:p>
        </p:txBody>
      </p:sp>
    </p:spTree>
    <p:extLst>
      <p:ext uri="{BB962C8B-B14F-4D97-AF65-F5344CB8AC3E}">
        <p14:creationId xmlns:p14="http://schemas.microsoft.com/office/powerpoint/2010/main" val="869139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preserve="1" userDrawn="1">
  <p:cSld name="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algn="ctr"/>
            <a:r>
              <a:rPr lang="it-IT" sz="3200" dirty="0">
                <a:solidFill>
                  <a:srgbClr val="EFD485"/>
                </a:solidFill>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4177308" y="1758580"/>
            <a:ext cx="2324052" cy="11620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535972" y="1781256"/>
            <a:ext cx="2223678" cy="1111839"/>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236596" y="3062203"/>
            <a:ext cx="7760677" cy="584775"/>
          </a:xfrm>
          <a:prstGeom prst="rect">
            <a:avLst/>
          </a:prstGeom>
          <a:noFill/>
        </p:spPr>
        <p:txBody>
          <a:bodyPr wrap="square" rtlCol="0">
            <a:spAutoFit/>
          </a:bodyPr>
          <a:lstStyle/>
          <a:p>
            <a:pPr algn="ctr"/>
            <a:r>
              <a:rPr lang="it-IT" sz="3200" dirty="0">
                <a:solidFill>
                  <a:srgbClr val="EFD485"/>
                </a:solidFill>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6321022" y="3899061"/>
            <a:ext cx="1564000" cy="782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icker Mule">
            <a:extLst>
              <a:ext uri="{FF2B5EF4-FFF2-40B4-BE49-F238E27FC236}">
                <a16:creationId xmlns:a16="http://schemas.microsoft.com/office/drawing/2014/main" id="{90E1947C-3A52-C4EA-6590-A114F1DEF4F0}"/>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430900" y="4831675"/>
            <a:ext cx="1752156" cy="8760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4177308" y="3824365"/>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ckt Publishing">
            <a:extLst>
              <a:ext uri="{FF2B5EF4-FFF2-40B4-BE49-F238E27FC236}">
                <a16:creationId xmlns:a16="http://schemas.microsoft.com/office/drawing/2014/main" id="{F2419F5C-C452-710B-B0AD-B6DEC64A2E0C}"/>
              </a:ext>
            </a:extLst>
          </p:cNvPr>
          <p:cNvPicPr>
            <a:picLocks noChangeAspect="1" noChangeArrowheads="1"/>
          </p:cNvPicPr>
          <p:nvPr userDrawn="1"/>
        </p:nvPicPr>
        <p:blipFill>
          <a:blip r:embed="rId9">
            <a:alphaModFix/>
            <a:extLst>
              <a:ext uri="{28A0092B-C50C-407E-A947-70E740481C1C}">
                <a14:useLocalDpi xmlns:a14="http://schemas.microsoft.com/office/drawing/2010/main" val="0"/>
              </a:ext>
            </a:extLst>
          </a:blip>
          <a:srcRect/>
          <a:stretch>
            <a:fillRect/>
          </a:stretch>
        </p:blipFill>
        <p:spPr bwMode="auto">
          <a:xfrm>
            <a:off x="5257162" y="4824032"/>
            <a:ext cx="1677675"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10">
            <a:alphaModFix/>
            <a:extLst>
              <a:ext uri="{28A0092B-C50C-407E-A947-70E740481C1C}">
                <a14:useLocalDpi xmlns:a14="http://schemas.microsoft.com/office/drawing/2010/main" val="0"/>
              </a:ext>
            </a:extLst>
          </a:blip>
          <a:srcRect/>
          <a:stretch>
            <a:fillRect/>
          </a:stretch>
        </p:blipFill>
        <p:spPr bwMode="auto">
          <a:xfrm>
            <a:off x="7103022" y="4885016"/>
            <a:ext cx="1752156" cy="87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113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theme" Target="../theme/theme2.xml"/><Relationship Id="rId12" Type="http://schemas.openxmlformats.org/officeDocument/2006/relationships/image" Target="../media/image1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theme" Target="../theme/theme3.xml"/><Relationship Id="rId13" Type="http://schemas.openxmlformats.org/officeDocument/2006/relationships/image" Target="../media/image3.png"/><Relationship Id="rId14" Type="http://schemas.microsoft.com/office/2007/relationships/hdphoto" Target="../media/hdphoto3.wdp"/></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theme" Target="../theme/theme4.xml"/><Relationship Id="rId13"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slideLayout" Target="../slideLayouts/slideLayout53.xml"/><Relationship Id="rId13" Type="http://schemas.openxmlformats.org/officeDocument/2006/relationships/slideLayout" Target="../slideLayouts/slideLayout54.xml"/><Relationship Id="rId14" Type="http://schemas.openxmlformats.org/officeDocument/2006/relationships/slideLayout" Target="../slideLayouts/slideLayout55.xml"/><Relationship Id="rId15" Type="http://schemas.openxmlformats.org/officeDocument/2006/relationships/theme" Target="../theme/theme5.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339033345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3" r:id="rId8"/>
    <p:sldLayoutId id="214748374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1"/>
            <a:ext cx="12192000" cy="1195754"/>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a:noFill/>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576776" y="1314157"/>
            <a:ext cx="11205922"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576776" y="6356350"/>
            <a:ext cx="992793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8" name="Immagine 7" descr="Immagine che contiene Elementi grafici, schizzo, disegno, arte&#10;&#10;Descrizione generata automaticamente">
            <a:extLst>
              <a:ext uri="{FF2B5EF4-FFF2-40B4-BE49-F238E27FC236}">
                <a16:creationId xmlns:a16="http://schemas.microsoft.com/office/drawing/2014/main" id="{EAE4BD8E-E654-B24C-24AA-93EDFE39A3D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494693" cy="1195754"/>
          </a:xfrm>
          <a:prstGeom prst="rect">
            <a:avLst/>
          </a:prstGeom>
        </p:spPr>
      </p:pic>
    </p:spTree>
    <p:extLst>
      <p:ext uri="{BB962C8B-B14F-4D97-AF65-F5344CB8AC3E}">
        <p14:creationId xmlns:p14="http://schemas.microsoft.com/office/powerpoint/2010/main" val="352924192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7" r:id="rId6"/>
    <p:sldLayoutId id="2147483728" r:id="rId7"/>
    <p:sldLayoutId id="2147483729" r:id="rId8"/>
    <p:sldLayoutId id="2147483730" r:id="rId9"/>
    <p:sldLayoutId id="2147483731" r:id="rId10"/>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1619794" y="1314157"/>
            <a:ext cx="1016290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1619794" y="6356350"/>
            <a:ext cx="888492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11" name="Immagine 10">
            <a:extLst>
              <a:ext uri="{FF2B5EF4-FFF2-40B4-BE49-F238E27FC236}">
                <a16:creationId xmlns:a16="http://schemas.microsoft.com/office/drawing/2014/main" id="{A7533540-83EF-C4E6-9100-721A8C345237}"/>
              </a:ext>
            </a:extLst>
          </p:cNvPr>
          <p:cNvPicPr>
            <a:picLocks noChangeAspect="1"/>
          </p:cNvPicPr>
          <p:nvPr userDrawn="1"/>
        </p:nvPicPr>
        <p:blipFill>
          <a:blip r:embed="rId13">
            <a:extLst>
              <a:ext uri="{BEBA8EAE-BF5A-486C-A8C5-ECC9F3942E4B}">
                <a14:imgProps xmlns:a14="http://schemas.microsoft.com/office/drawing/2010/main">
                  <a14:imgLayer r:embed="rId14">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16426" y="0"/>
            <a:ext cx="1332411" cy="1332411"/>
          </a:xfrm>
          <a:prstGeom prst="rect">
            <a:avLst/>
          </a:prstGeom>
        </p:spPr>
      </p:pic>
    </p:spTree>
    <p:extLst>
      <p:ext uri="{BB962C8B-B14F-4D97-AF65-F5344CB8AC3E}">
        <p14:creationId xmlns:p14="http://schemas.microsoft.com/office/powerpoint/2010/main" val="39409226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b="1" kern="1200">
          <a:solidFill>
            <a:schemeClr val="bg2">
              <a:lumMod val="25000"/>
            </a:schemeClr>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0"/>
            <a:ext cx="2364377" cy="6839745"/>
          </a:xfrm>
          <a:prstGeom prst="rect">
            <a:avLst/>
          </a:prstGeom>
          <a:solidFill>
            <a:srgbClr val="EFD4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2625634" y="1314157"/>
            <a:ext cx="915706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2625634" y="6356350"/>
            <a:ext cx="787908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9" name="Immagine 8">
            <a:extLst>
              <a:ext uri="{FF2B5EF4-FFF2-40B4-BE49-F238E27FC236}">
                <a16:creationId xmlns:a16="http://schemas.microsoft.com/office/drawing/2014/main" id="{21EBF50F-5D1D-409E-88D8-03D976F8D9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5982" y="18255"/>
            <a:ext cx="1332411" cy="1332411"/>
          </a:xfrm>
          <a:prstGeom prst="rect">
            <a:avLst/>
          </a:prstGeom>
        </p:spPr>
      </p:pic>
    </p:spTree>
    <p:extLst>
      <p:ext uri="{BB962C8B-B14F-4D97-AF65-F5344CB8AC3E}">
        <p14:creationId xmlns:p14="http://schemas.microsoft.com/office/powerpoint/2010/main" val="3523896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B383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B3838"/>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B383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1506542201"/>
      </p:ext>
    </p:extLst>
  </p:cSld>
  <p:clrMap bg1="lt1" tx1="dk1" bg2="lt2" tx2="dk2" accent1="accent1" accent2="accent2" accent3="accent3" accent4="accent4" accent5="accent5" accent6="accent6" hlink="hlink" folHlink="folHlink"/>
  <p:sldLayoutIdLst>
    <p:sldLayoutId id="2147483696" r:id="rId1"/>
    <p:sldLayoutId id="2147483700" r:id="rId2"/>
    <p:sldLayoutId id="2147483701" r:id="rId3"/>
    <p:sldLayoutId id="2147483702" r:id="rId4"/>
    <p:sldLayoutId id="2147483697" r:id="rId5"/>
    <p:sldLayoutId id="2147483685" r:id="rId6"/>
    <p:sldLayoutId id="2147483703" r:id="rId7"/>
    <p:sldLayoutId id="2147483705" r:id="rId8"/>
    <p:sldLayoutId id="2147483704" r:id="rId9"/>
    <p:sldLayoutId id="2147483707" r:id="rId10"/>
    <p:sldLayoutId id="2147483706" r:id="rId11"/>
    <p:sldLayoutId id="2147483698" r:id="rId12"/>
    <p:sldLayoutId id="2147483732" r:id="rId13"/>
    <p:sldLayoutId id="214748369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Title"/>
          <p:cNvSpPr>
            <a:spLocks noGrp="1"/>
          </p:cNvSpPr>
          <p:nvPr>
            <p:ph type="ctrTitle"/>
          </p:nvPr>
        </p:nvSpPr>
        <p:spPr/>
        <p:txBody>
          <a:bodyPr/>
          <a:lstStyle/>
          <a:p>
            <a:r>
              <a:t>Session Banner - AI Gateway: The Missing Layer of Enterprise AI</a:t>
            </a:r>
          </a:p>
        </p:txBody>
      </p:sp>
      <p:pic descr="Visual banner image representing the conference session 'AI Gateway: The Missing Layer of Enterprise AI' by Luca Congiu. This is a decorative element for the presentation." title="Banner for AI Gateway: The Missing Layer of Enterprise AI by Luca Congiu" a:descr="Visual banner image representing the conference session 'AI Gateway: The Missing Layer of Enterprise AI' by Luca Congiu. This is a decorative element for the presentation.">
        <p:nvPicPr>
          <p:cNvPr id="3" name="Banner for AI Gateway: The Missing Layer of Enterprise AI by Luca Congiu" descr="AzureDayTorino2026_1326620.jpeg"/>
          <p:cNvPicPr>
            <a:picLocks noChangeAspect="1"/>
          </p:cNvPicPr>
          <p:nvPr/>
        </p:nvPicPr>
        <p:blipFill>
          <a:blip r:embed="rId2"/>
          <a:stretch>
            <a:fillRect/>
          </a:stretch>
        </p:blipFill>
        <p:spPr>
          <a:xfrm>
            <a:off x="0" y="0"/>
            <a:ext cx="12573000" cy="756208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ain Session Title"/>
          <p:cNvSpPr>
            <a:spLocks noGrp="1"/>
          </p:cNvSpPr>
          <p:nvPr>
            <p:ph type="ctrTitle"/>
          </p:nvPr>
        </p:nvSpPr>
        <p:spPr>
          <a:xfrm>
            <a:off x="3931920" y="457200"/>
            <a:ext cx="7772400" cy="2743200"/>
          </a:xfrm>
        </p:spPr>
        <p:txBody>
          <a:bodyPr wrap="square"/>
          <a:lstStyle/>
          <a:p>
            <a:pPr algn="ctr">
              <a:defRPr sz="4000"/>
            </a:pPr>
            <a:r>
              <a:t>AI Gateway: The Missing Layer of Enterprise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ain Session Title"/>
          <p:cNvSpPr>
            <a:spLocks noGrp="1"/>
          </p:cNvSpPr>
          <p:nvPr>
            <p:ph type="title"/>
          </p:nvPr>
        </p:nvSpPr>
        <p:spPr>
          <a:xfrm>
            <a:off x="457200" y="5715000"/>
            <a:ext cx="11277600" cy="868680"/>
          </a:xfrm>
        </p:spPr>
        <p:txBody>
          <a:bodyPr wrap="square"/>
          <a:lstStyle/>
          <a:p>
            <a:pPr algn="ctr">
              <a:defRPr sz="3200"/>
            </a:pPr>
            <a:r>
              <a:t>AI Gateway: The Missing Layer of Enterprise AI</a:t>
            </a:r>
          </a:p>
        </p:txBody>
      </p:sp>
      <p:sp>
        <p:nvSpPr>
          <p:cNvPr id="3" name="Detailed Speaker Information"/>
          <p:cNvSpPr txBox="1"/>
          <p:nvPr/>
        </p:nvSpPr>
        <p:spPr>
          <a:xfrm>
            <a:off x="457200" y="5303520"/>
            <a:ext cx="11277600" cy="411480"/>
          </a:xfrm>
          <a:prstGeom prst="rect">
            <a:avLst/>
          </a:prstGeom>
          <a:noFill/>
        </p:spPr>
        <p:txBody>
          <a:bodyPr wrap="square">
            <a:spAutoFit/>
          </a:bodyPr>
          <a:lstStyle/>
          <a:p>
            <a:pPr algn="ctr">
              <a:defRPr sz="2000">
                <a:solidFill>
                  <a:srgbClr val="262626"/>
                </a:solidFill>
              </a:defRPr>
            </a:pPr>
            <a:r>
              <a:t>Luca Congiu</a:t>
            </a:r>
          </a:p>
        </p:txBody>
      </p:sp>
      <p:sp>
        <p:nvSpPr>
          <p:cNvPr id="4" name="Session Description"/>
          <p:cNvSpPr txBox="1"/>
          <p:nvPr/>
        </p:nvSpPr>
        <p:spPr>
          <a:xfrm>
            <a:off x="914400" y="1463040"/>
            <a:ext cx="10363200" cy="3108960"/>
          </a:xfrm>
          <a:prstGeom prst="rect">
            <a:avLst/>
          </a:prstGeom>
          <a:noFill/>
        </p:spPr>
        <p:txBody>
          <a:bodyPr wrap="square">
            <a:spAutoFit/>
          </a:bodyPr>
          <a:lstStyle/>
          <a:p>
            <a:pPr algn="l">
              <a:defRPr sz="1800">
                <a:solidFill>
                  <a:srgbClr val="262626"/>
                </a:solidFill>
              </a:defRPr>
            </a:pPr>
          </a:p>
          <a:p>
            <a:pPr algn="l">
              <a:defRPr sz="1800">
                <a:solidFill>
                  <a:srgbClr val="262626"/>
                </a:solidFill>
              </a:defRPr>
            </a:pPr>
            <a:r>
              <a:t>Le organizzazioni stanno rapidamente adottando copiloti, agenti AI e modelli generativi, ma come è possibile governare sicurezza, costi, conformità e osservabilità in un ecosistema sempre più complesso?</a:t>
            </a:r>
          </a:p>
          <a:p>
            <a:pPr algn="l">
              <a:defRPr sz="1800">
                <a:solidFill>
                  <a:srgbClr val="262626"/>
                </a:solidFill>
              </a:defRPr>
            </a:pPr>
            <a:r>
              <a:t>In questa sessione esploreremo il ruolo dell'AI Gateway come nuovo Control Plane dell'AI Enterprise. Partendo dalle funzionalità AI Gateway di Azure API Management fino ad arrivare al nuovo AI Gateway Tier, vedremo come gestire modelli, agenti, tool e MCP Server attraverso un punto di controllo centralizzato.</a:t>
            </a:r>
          </a:p>
          <a:p>
            <a:pPr algn="l">
              <a:defRPr sz="1800">
                <a:solidFill>
                  <a:srgbClr val="262626"/>
                </a:solidFill>
              </a:defRPr>
            </a:pPr>
            <a:r>
              <a:t>Attraverso demo, architetture reali e scenari enterprise approfondiremo token gove...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Slide Title"/>
          <p:cNvSpPr>
            <a:spLocks noGrp="1"/>
          </p:cNvSpPr>
          <p:nvPr>
            <p:ph type="title"/>
          </p:nvPr>
        </p:nvSpPr>
        <p:spPr/>
        <p:txBody>
          <a:bodyPr/>
          <a:lstStyle/>
          <a:p>
            <a:pPr>
              <a:defRPr sz="2800"/>
            </a:pPr>
            <a:r>
              <a:t>AI Gateway: The Missing Layer of Enterprise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mo Section Title"/>
          <p:cNvSpPr>
            <a:spLocks noGrp="1"/>
          </p:cNvSpPr>
          <p:nvPr>
            <p:ph type="title"/>
          </p:nvPr>
        </p:nvSpPr>
        <p:spPr/>
        <p:txBody>
          <a:bodyPr/>
          <a:lstStyle/>
          <a:p>
            <a:r>
              <a:t>Demo: AI Gateway: The Missing Layer of Enterprise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title="QR Code - Vote for AI Gateway: The Missing Layer of Enterprise AI" descr="Scan this QR code to vote for this session, or visit https://vote.dotnetdev.it/vote/l44tzzta/1326620">
        <p:nvPicPr>
          <p:cNvPr id="2" name="QR Code for voting on AI Gateway: The Missing Layer of Enterprise AI" descr="temp_voteQr.png"/>
          <p:cNvPicPr>
            <a:picLocks noGrp="1" noChangeAspect="1"/>
          </p:cNvPicPr>
          <p:nvPr>
            <p:ph type="pic" idx="1"/>
          </p:nvPr>
        </p:nvPicPr>
        <p:blipFill>
          <a:blip r:embed="rId2"/>
          <a:srcRect t="3514" b="3514"/>
          <a:stretch>
            <a:fillRect/>
          </a:stretch>
        </p:blipFill>
        <p:spPr/>
      </p:pic>
      <p:sp title="Voting instructions" descr="Encouragement to vote for the session: AI Gateway: The Missing Layer of Enterprise AI">
        <p:nvSpPr>
          <p:cNvPr id="3" name="Voting Call to Action"/>
          <p:cNvSpPr>
            <a:spLocks noGrp="1"/>
          </p:cNvSpPr>
          <p:nvPr>
            <p:ph type="title"/>
          </p:nvPr>
        </p:nvSpPr>
        <p:spPr/>
        <p:txBody>
          <a:bodyPr/>
          <a:lstStyle/>
          <a:p>
            <a:r>
              <a:t>Please Vote for This Session</a:t>
            </a:r>
          </a:p>
        </p:txBody>
      </p:sp>
      <p:sp title="Slide Title (Accessibility)" descr="Hidden title: Vote for Session - AI Gateway: The Missing Layer of Enterprise AI">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AI Gateway: The Missing Layer of Enterprise AI</a:t>
            </a:r>
          </a:p>
        </p:txBody>
      </p:sp>
      <p:sp>
        <p:nvSpPr>
          <p:cNvPr id="5" name="Alternative Voting URL"/>
          <p:cNvSpPr txBox="1"/>
          <p:nvPr/>
        </p:nvSpPr>
        <p:spPr>
          <a:xfrm>
            <a:off x="457200" y="6309360"/>
            <a:ext cx="11277600" cy="411480"/>
          </a:xfrm>
          <a:prstGeom prst="rect">
            <a:avLst/>
          </a:prstGeom>
          <a:noFill/>
        </p:spPr>
        <p:txBody>
          <a:bodyPr wrap="square">
            <a:spAutoFit/>
          </a:bodyPr>
          <a:lstStyle/>
          <a:p>
            <a:pPr algn="ctr">
              <a:defRPr sz="1800">
                <a:solidFill>
                  <a:srgbClr val="262626"/>
                </a:solidFill>
              </a:defRPr>
            </a:pPr>
            <a:r>
              <a:t>https://vote.dotnetdev.it/vote/l44tzzta/1326620</a:t>
            </a:r>
          </a:p>
        </p:txBody>
      </p:sp>
    </p:spTree>
  </p:cSld>
  <p:clrMapOvr>
    <a:masterClrMapping/>
  </p:clrMapOvr>
</p:sld>
</file>

<file path=ppt/theme/theme1.xml><?xml version="1.0" encoding="utf-8"?>
<a:theme xmlns:a="http://schemas.openxmlformats.org/drawingml/2006/main" name="1_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ema di Office">
  <a:themeElements>
    <a:clrScheme name="Torino">
      <a:dk1>
        <a:sysClr val="windowText" lastClr="000000"/>
      </a:dk1>
      <a:lt1>
        <a:sysClr val="window" lastClr="FFFFFF"/>
      </a:lt1>
      <a:dk2>
        <a:srgbClr val="44546A"/>
      </a:dk2>
      <a:lt2>
        <a:srgbClr val="E7E6E6"/>
      </a:lt2>
      <a:accent1>
        <a:srgbClr val="EFD485"/>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2" ma:contentTypeDescription="Creare un nuovo documento." ma:contentTypeScope="" ma:versionID="63b5c12633394d46a5e8b3cee073cbf0">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65fc1106bbd4197a92925fc0676d25d"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878534-5D58-47CF-96A0-6CC00164F916}">
  <ds:schemaRefs>
    <ds:schemaRef ds:uri="http://schemas.microsoft.com/sharepoint/v3/contenttype/forms"/>
  </ds:schemaRefs>
</ds:datastoreItem>
</file>

<file path=customXml/itemProps2.xml><?xml version="1.0" encoding="utf-8"?>
<ds:datastoreItem xmlns:ds="http://schemas.openxmlformats.org/officeDocument/2006/customXml" ds:itemID="{AF8E5EFD-CAD4-4277-A6A9-F2D818E316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11303</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Caratteri utilizzati</vt:lpstr>
      </vt:variant>
      <vt:variant>
        <vt:i4>4</vt:i4>
      </vt:variant>
      <vt:variant>
        <vt:lpstr>Tema</vt:lpstr>
      </vt:variant>
      <vt:variant>
        <vt:i4>5</vt:i4>
      </vt:variant>
      <vt:variant>
        <vt:lpstr>Titoli diapositive</vt:lpstr>
      </vt:variant>
      <vt:variant>
        <vt:i4>0</vt:i4>
      </vt:variant>
    </vt:vector>
  </HeadingPairs>
  <TitlesOfParts>
    <vt:vector size="9" baseType="lpstr">
      <vt:lpstr>Aptos</vt:lpstr>
      <vt:lpstr>Arial</vt:lpstr>
      <vt:lpstr>Calibri</vt:lpstr>
      <vt:lpstr>Segoe UI</vt:lpstr>
      <vt:lpstr>1_Personalizza struttura</vt:lpstr>
      <vt:lpstr>4_Tema di Office</vt:lpstr>
      <vt:lpstr>3_Tema di Office</vt:lpstr>
      <vt:lpstr>2_Tema di Office</vt:lpstr>
      <vt:lpstr>Personalizza struttura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AI Gateway: The Missing Layer of Enterprise AI</dc:title>
  <dc:subject>Conference session: AI Gateway: The Missing Layer of Enterprise AI</dc:subject>
  <dc:creator>Congiu Luca</dc:creator>
  <cp:lastModifiedBy>Giulio Sciarappa</cp:lastModifiedBy>
  <cp:revision>46</cp:revision>
  <dcterms:created xsi:type="dcterms:W3CDTF">2019-05-12T19:24:58Z</dcterms:created>
  <dcterms:modified xsi:type="dcterms:W3CDTF">2026-09-28T14:55:51Z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b815c3-1286-463b-8c37-10c6caafc5c1_Enabled">
    <vt:lpwstr>true</vt:lpwstr>
  </property>
  <property fmtid="{D5CDD505-2E9C-101B-9397-08002B2CF9AE}" pid="3" name="MSIP_Label_3bb815c3-1286-463b-8c37-10c6caafc5c1_SetDate">
    <vt:lpwstr>2025-10-09T22:55:31Z</vt:lpwstr>
  </property>
  <property fmtid="{D5CDD505-2E9C-101B-9397-08002B2CF9AE}" pid="4" name="MSIP_Label_3bb815c3-1286-463b-8c37-10c6caafc5c1_Method">
    <vt:lpwstr>Standard</vt:lpwstr>
  </property>
  <property fmtid="{D5CDD505-2E9C-101B-9397-08002B2CF9AE}" pid="5" name="MSIP_Label_3bb815c3-1286-463b-8c37-10c6caafc5c1_Name">
    <vt:lpwstr>Pubblico</vt:lpwstr>
  </property>
  <property fmtid="{D5CDD505-2E9C-101B-9397-08002B2CF9AE}" pid="6" name="MSIP_Label_3bb815c3-1286-463b-8c37-10c6caafc5c1_SiteId">
    <vt:lpwstr>65a566f1-3ead-40f7-b219-85bff9a7972e</vt:lpwstr>
  </property>
  <property fmtid="{D5CDD505-2E9C-101B-9397-08002B2CF9AE}" pid="7" name="MSIP_Label_3bb815c3-1286-463b-8c37-10c6caafc5c1_ActionId">
    <vt:lpwstr>d5f7cf35-f63a-4f74-9353-d4525a08efea</vt:lpwstr>
  </property>
  <property fmtid="{D5CDD505-2E9C-101B-9397-08002B2CF9AE}" pid="8" name="MSIP_Label_3bb815c3-1286-463b-8c37-10c6caafc5c1_ContentBits">
    <vt:lpwstr>0</vt:lpwstr>
  </property>
  <property fmtid="{D5CDD505-2E9C-101B-9397-08002B2CF9AE}" pid="9" name="MSIP_Label_3bb815c3-1286-463b-8c37-10c6caafc5c1_Tag">
    <vt:lpwstr>50, 3, 0, 1</vt:lpwstr>
  </property>
</Properties>
</file>