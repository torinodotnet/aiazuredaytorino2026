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xml:lang="en-US">
  <p:sldMasterIdLst>
    <p:sldMasterId id="2147483733" r:id="rId3"/>
    <p:sldMasterId id="2147483720" r:id="rId4"/>
    <p:sldMasterId id="2147483708" r:id="rId5"/>
    <p:sldMasterId id="2147483672" r:id="rId6"/>
    <p:sldMasterId id="2147483684" r:id="rId7"/>
  </p:sldMasterIdLst>
  <p:notesMasterIdLst>
    <p:notesMasterId r:id="rId8"/>
  </p:notesMasterIdLst>
  <p:handoutMasterIdLst>
    <p:handoutMasterId r:id="rId9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EFD485"/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4868" autoAdjust="0"/>
    <p:restoredTop sz="94949" autoAdjust="0"/>
  </p:normalViewPr>
  <p:slideViewPr>
    <p:cSldViewPr snapToGrid="0">
      <p:cViewPr varScale="1">
        <p:scale>
          <a:sx n="61" d="100"/>
          <a:sy n="61" d="100"/>
        </p:scale>
        <p:origin x="248" y="1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BE3D86-4CD7-F31D-54B6-EE995848C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68F4FE-A203-8B8F-CC9E-A2DCEF75E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74DD2-8E53-470B-8646-02BB9552BE22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51FBA9-2186-3F38-F1ED-F34B57E89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69695-C27F-4316-765E-65C28A027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BB95B-02C2-41BB-A9B7-DDBB724675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092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C294-2F5E-402F-ADF7-7076FF27C349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288A-C98E-4CBE-B69D-C060B2E07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2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banner slide for 'Cloud dove serve, AI dove conta: Azure Local dal datacenter all’edge'. The session is presented by: Francesco Molfese.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title slide displaying 'Cloud dove serve, AI dove conta: Azure Local dal datacenter all’edge'. Presented by: Francesco Molfese.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session information for 'Cloud dove serve, AI dove conta: Azure Local dal datacenter all’edge'. Session description: Non tutti i workload devono essere eseguiti nel cloud e non tutti i dati possono lasciare il luogo in cui vengono prodotti. Azure Local porta il modello operativo di Azure nel datacenter e all’edge, p....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section for 'Cloud dove serve, AI dove conta: Azure Local dal datacenter all’edge'.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 for 'Cloud dove serve, AI dove conta: Azure Local dal datacenter all’edge'.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Voting slide for 'Cloud dove serve, AI dove conta: Azure Local dal datacenter all’edge'. Ask audience to scan the QR code or visit https://vote.dotnetdev.it/vote/l44tzzta/1300553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4.wdp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Relationship Id="rId9" Type="http://schemas.openxmlformats.org/officeDocument/2006/relationships/image" Target="../media/image14.png"/><Relationship Id="rId10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51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35644"/>
            <a:ext cx="7812800" cy="313395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4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B7FDCE-5AB0-0496-3C32-CD549583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4"/>
          <a:stretch>
            <a:fillRect/>
          </a:stretch>
        </p:blipFill>
        <p:spPr>
          <a:xfrm>
            <a:off x="0" y="3891516"/>
            <a:ext cx="12192000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24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Titolo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EDCFE-2CDD-6133-F929-5516C5D6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-28924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5400" b="0" i="0" u="none" strike="noStrike" kern="1200" cap="none" spc="0" normalizeH="0" baseline="0" noProof="0" dirty="0">
              <a:ln>
                <a:noFill/>
              </a:ln>
              <a:solidFill>
                <a:srgbClr val="0B78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19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AzureDayTorino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8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047" y="-3837229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EA002-27DD-2DF0-5B8E-E5D0488B87F0}"/>
              </a:ext>
            </a:extLst>
          </p:cNvPr>
          <p:cNvSpPr txBox="1"/>
          <p:nvPr userDrawn="1"/>
        </p:nvSpPr>
        <p:spPr>
          <a:xfrm>
            <a:off x="1562100" y="438150"/>
            <a:ext cx="1009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977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80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13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7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922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771" y="488964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2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776" y="1600200"/>
            <a:ext cx="11205921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5" y="4344194"/>
            <a:ext cx="1120592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736726"/>
            <a:ext cx="1120592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4596754"/>
            <a:ext cx="112059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759" y="1825625"/>
            <a:ext cx="5129723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2974" y="1825625"/>
            <a:ext cx="5129723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5" y="167420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775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3584" y="168116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3584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87657"/>
            <a:ext cx="4360984" cy="8888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2031" y="1587657"/>
            <a:ext cx="623066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80880"/>
            <a:ext cx="4360984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28096"/>
            <a:ext cx="4360984" cy="10319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3687" y="1515291"/>
            <a:ext cx="6029010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07711"/>
            <a:ext cx="4360984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00200"/>
            <a:ext cx="10258698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4194"/>
            <a:ext cx="102586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736726"/>
            <a:ext cx="1016290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4596754"/>
            <a:ext cx="10162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7193" y="1825625"/>
            <a:ext cx="4713052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7189" y="1825625"/>
            <a:ext cx="4885508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5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9795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0251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0251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6195216"/>
            <a:ext cx="12192000" cy="662783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87657"/>
            <a:ext cx="3932237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97" y="1587657"/>
            <a:ext cx="5943600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4" y="2880880"/>
            <a:ext cx="3932237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15291"/>
            <a:ext cx="3932237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725" y="1515291"/>
            <a:ext cx="5812971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3" y="2761388"/>
            <a:ext cx="3932237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633" y="1600200"/>
            <a:ext cx="9157063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634" y="4344194"/>
            <a:ext cx="91570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736726"/>
            <a:ext cx="91570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4596754"/>
            <a:ext cx="91570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5634" y="1835513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891" y="1825625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664155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5633" y="2527640"/>
            <a:ext cx="4193179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89519" y="1681163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9519" y="2505075"/>
            <a:ext cx="4193177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587657"/>
            <a:ext cx="3592286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71" y="1587657"/>
            <a:ext cx="514272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4" y="2874869"/>
            <a:ext cx="3592286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5" y="1481773"/>
            <a:ext cx="3470366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09807" y="1481773"/>
            <a:ext cx="5172890" cy="43792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5" y="2740387"/>
            <a:ext cx="3470366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25634" y="1554479"/>
            <a:ext cx="6528164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3200B19-1F80-1FD4-FF41-354F78E65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4"/>
          <a:stretch>
            <a:fillRect/>
          </a:stretch>
        </p:blipFill>
        <p:spPr>
          <a:xfrm>
            <a:off x="0" y="3742660"/>
            <a:ext cx="12192000" cy="311534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1289756"/>
            <a:ext cx="7812800" cy="3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3B3838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799426" y="1890747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532119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3B3838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9426" y="1896423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799426" y="4441319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794735" y="372793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  <a:ln>
            <a:solidFill>
              <a:srgbClr val="EFD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54893" y="3503863"/>
            <a:ext cx="504219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>
                <a:solidFill>
                  <a:schemeClr val="bg1"/>
                </a:solidFill>
              </a:rPr>
              <a:t>Agenda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1460AA-79FC-1465-E8FD-4F3AAE432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1182" y="6356350"/>
            <a:ext cx="98435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316559"/>
            <a:ext cx="1112151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AzureDayTorino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1758580"/>
            <a:ext cx="2324052" cy="11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72" y="1781256"/>
            <a:ext cx="2223678" cy="111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236596" y="3062203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022" y="3899061"/>
            <a:ext cx="1564000" cy="7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icker Mule">
            <a:extLst>
              <a:ext uri="{FF2B5EF4-FFF2-40B4-BE49-F238E27FC236}">
                <a16:creationId xmlns:a16="http://schemas.microsoft.com/office/drawing/2014/main" id="{90E1947C-3A52-C4EA-6590-A114F1DEF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00" y="4831675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3824365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ckt Publishing">
            <a:extLst>
              <a:ext uri="{FF2B5EF4-FFF2-40B4-BE49-F238E27FC236}">
                <a16:creationId xmlns:a16="http://schemas.microsoft.com/office/drawing/2014/main" id="{F2419F5C-C452-710B-B0AD-B6DEC64A2E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62" y="4824032"/>
            <a:ext cx="1677675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22" y="4885016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12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3" Type="http://schemas.openxmlformats.org/officeDocument/2006/relationships/image" Target="../media/image3.png"/><Relationship Id="rId14" Type="http://schemas.microsoft.com/office/2007/relationships/hdphoto" Target="../media/hdphoto3.wdp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theme" Target="../theme/theme5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3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3" r:id="rId8"/>
    <p:sldLayoutId id="214748374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2192000" cy="1195754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1314157"/>
            <a:ext cx="11205922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776" y="6356350"/>
            <a:ext cx="9927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8" name="Immagine 7" descr="Immagine che contiene Elementi grafici, schizzo, disegno, arte&#10;&#10;Descrizione generata automaticamente">
            <a:extLst>
              <a:ext uri="{FF2B5EF4-FFF2-40B4-BE49-F238E27FC236}">
                <a16:creationId xmlns:a16="http://schemas.microsoft.com/office/drawing/2014/main" id="{EAE4BD8E-E654-B24C-24AA-93EDFE39A3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4693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1314157"/>
            <a:ext cx="1016290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533540-83EF-C4E6-9100-721A8C34523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6" y="0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364377" cy="6839745"/>
          </a:xfrm>
          <a:prstGeom prst="rect">
            <a:avLst/>
          </a:prstGeom>
          <a:solidFill>
            <a:srgbClr val="EFD4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314157"/>
            <a:ext cx="915706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" y="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B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B3838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B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97" r:id="rId5"/>
    <p:sldLayoutId id="2147483685" r:id="rId6"/>
    <p:sldLayoutId id="2147483703" r:id="rId7"/>
    <p:sldLayoutId id="2147483705" r:id="rId8"/>
    <p:sldLayoutId id="2147483704" r:id="rId9"/>
    <p:sldLayoutId id="214748370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Cloud dove serve, AI dove conta: Azure Local dal datacenter all’edge</a:t>
            </a:r>
          </a:p>
        </p:txBody>
      </p:sp>
      <p:pic descr="Visual banner image representing the conference session 'Cloud dove serve, AI dove conta: Azure Local dal datacenter all’edge' by Francesco Molfese. This is a decorative element for the presentation." title="Banner for Cloud dove serve, AI dove conta: Azure Local dal datacenter all’edge by Francesco Molfese" a:descr="Visual banner image representing the conference session 'Cloud dove serve, AI dove conta: Azure Local dal datacenter all’edge' by Francesco Molfese. This is a decorative element for the presentation.">
        <p:nvPicPr>
          <p:cNvPr id="3" name="Banner for Cloud dove serve, AI dove conta: Azure Local dal datacenter all’edge by Francesco Molfese" descr="AzureDayTorino2026_130055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ctrTitle"/>
          </p:nvPr>
        </p:nvSpPr>
        <p:spPr>
          <a:xfrm>
            <a:off x="3931920" y="457200"/>
            <a:ext cx="7772400" cy="2743200"/>
          </a:xfrm>
        </p:spPr>
        <p:txBody>
          <a:bodyPr wrap="square"/>
          <a:lstStyle/>
          <a:p>
            <a:pPr algn="ctr">
              <a:defRPr sz="4000"/>
            </a:pPr>
            <a:r>
              <a:t>Cloud dove serve, AI dove conta: Azure Local dal datacenter all’edge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title"/>
          </p:nvPr>
        </p:nvSpPr>
        <p:spPr>
          <a:xfrm>
            <a:off x="457200" y="5715000"/>
            <a:ext cx="11277600" cy="868680"/>
          </a:xfrm>
        </p:spPr>
        <p:txBody>
          <a:bodyPr wrap="square"/>
          <a:lstStyle/>
          <a:p>
            <a:pPr algn="ctr">
              <a:defRPr sz="3200"/>
            </a:pPr>
            <a:r>
              <a:t>Cloud dove serve, AI dove conta: Azure Local dal datacenter all’edge</a:t>
            </a:r>
          </a:p>
        </p:txBody>
      </p:sp>
      <p:sp>
        <p:nvSpPr>
          <p:cNvPr id="3" name="Detailed Speaker Information"/>
          <p:cNvSpPr txBox="1"/>
          <p:nvPr/>
        </p:nvSpPr>
        <p:spPr>
          <a:xfrm>
            <a:off x="457200" y="530352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62626"/>
                </a:solidFill>
              </a:defRPr>
            </a:pPr>
            <a:r>
              <a:t>Francesco Molfese</a:t>
            </a:r>
          </a:p>
        </p:txBody>
      </p:sp>
      <p:sp>
        <p:nvSpPr>
          <p:cNvPr id="4" name="Session Description"/>
          <p:cNvSpPr txBox="1"/>
          <p:nvPr/>
        </p:nvSpPr>
        <p:spPr>
          <a:xfrm>
            <a:off x="914400" y="1463040"/>
            <a:ext cx="1036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62626"/>
                </a:solidFill>
              </a:defRPr>
            </a:pPr>
            <a:r>
              <a:t>Non tutti i workload devono essere eseguiti nel cloud e non tutti i dati possono lasciare il luogo in cui vengono prodotti. Azure Local porta il modello operativo di Azure nel datacenter e all’edge, permettendo di eseguire applicazioni e servizi vicino ai dati.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In questa sessione esploreremo l’architettura di Azure Local e i criteri con cui decidere dove collocare ogni workload, considerando latenza, resilienza, sovranità del dato e connettività. Il focus sarà sui casi d’uso in cui l’intelligenza artificiale locale crea un valore concreto: inferenza a bassa latenza, analisi di immagini e v...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Cloud dove serve, AI dove conta: Azure Local dal datacenter all’edge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Cloud dove serve, AI dove conta: Azure Local dal datacenter all’edge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title="QR Code - Vote for Cloud dove serve, AI dove conta: Azure Local dal datacenter all’edge" descr="Scan this QR code to vote for this session, or visit https://vote.dotnetdev.it/vote/l44tzzta/1300553">
        <p:nvPicPr>
          <p:cNvPr id="2" name="QR Code for voting on Cloud dove serve, AI dove conta: Azure Local dal datacenter all’edg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514" b="3514"/>
          <a:stretch>
            <a:fillRect/>
          </a:stretch>
        </p:blipFill>
        <p:spPr/>
      </p:pic>
      <p:sp title="Voting instructions" descr="Encouragement to vote for the session: Cloud dove serve, AI dove conta: Azure Local dal datacenter all’edge"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 title="Slide Title (Accessibility)" descr="Hidden title: Vote for Session - Cloud dove serve, AI dove conta: Azure Local dal datacenter all’edge"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Cloud dove serve, AI dove conta: Azure Local dal datacenter all’edge</a:t>
            </a:r>
          </a:p>
        </p:txBody>
      </p:sp>
      <p:sp>
        <p:nvSpPr>
          <p:cNvPr id="5" name="Alternative Voting URL"/>
          <p:cNvSpPr txBox="1"/>
          <p:nvPr/>
        </p:nvSpPr>
        <p:spPr>
          <a:xfrm>
            <a:off x="457200" y="630936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62626"/>
                </a:solidFill>
              </a:defRPr>
            </a:pPr>
            <a:r>
              <a:t>https://vote.dotnetdev.it/vote/l44tzzta/1300553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Tema di Office">
  <a:themeElements>
    <a:clrScheme name="Torin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D4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2" ma:contentTypeDescription="Creare un nuovo documento." ma:contentTypeScope="" ma:versionID="63b5c12633394d46a5e8b3cee073cbf0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65fc1106bbd4197a92925fc0676d25d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78534-5D58-47CF-96A0-6CC00164F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E5EFD-CAD4-4277-A6A9-F2D818E31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11303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0</vt:i4>
      </vt:variant>
    </vt:vector>
  </HeadingPairs>
  <TitlesOfParts>
    <vt:vector size="9" baseType="lpstr">
      <vt:lpstr>Aptos</vt:lpstr>
      <vt:lpstr>Arial</vt:lpstr>
      <vt:lpstr>Calibri</vt:lpstr>
      <vt:lpstr>Segoe UI</vt:lpstr>
      <vt:lpstr>1_Personalizza struttura</vt:lpstr>
      <vt:lpstr>4_Tema di Office</vt:lpstr>
      <vt:lpstr>3_Tema di Office</vt:lpstr>
      <vt:lpstr>2_Tema di Office</vt:lpstr>
      <vt:lpstr>Personalizza struttura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Cloud dove serve, AI dove conta: Azure Local dal datacenter all’edge</dc:title>
  <dc:subject>Conference session: Cloud dove serve, AI dove conta: Azure Local dal datacenter all’edge</dc:subject>
  <dc:creator>Congiu Luca</dc:creator>
  <cp:lastModifiedBy>Giulio Sciarappa</cp:lastModifiedBy>
  <cp:revision>46</cp:revision>
  <dcterms:created xsi:type="dcterms:W3CDTF">2019-05-12T19:24:58Z</dcterms:created>
  <dcterms:modified xsi:type="dcterms:W3CDTF">2026-09-28T14:55:51Z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815c3-1286-463b-8c37-10c6caafc5c1_Enabled">
    <vt:lpwstr>true</vt:lpwstr>
  </property>
  <property fmtid="{D5CDD505-2E9C-101B-9397-08002B2CF9AE}" pid="3" name="MSIP_Label_3bb815c3-1286-463b-8c37-10c6caafc5c1_SetDate">
    <vt:lpwstr>2025-10-09T22:55:31Z</vt:lpwstr>
  </property>
  <property fmtid="{D5CDD505-2E9C-101B-9397-08002B2CF9AE}" pid="4" name="MSIP_Label_3bb815c3-1286-463b-8c37-10c6caafc5c1_Method">
    <vt:lpwstr>Standard</vt:lpwstr>
  </property>
  <property fmtid="{D5CDD505-2E9C-101B-9397-08002B2CF9AE}" pid="5" name="MSIP_Label_3bb815c3-1286-463b-8c37-10c6caafc5c1_Name">
    <vt:lpwstr>Pubblico</vt:lpwstr>
  </property>
  <property fmtid="{D5CDD505-2E9C-101B-9397-08002B2CF9AE}" pid="6" name="MSIP_Label_3bb815c3-1286-463b-8c37-10c6caafc5c1_SiteId">
    <vt:lpwstr>65a566f1-3ead-40f7-b219-85bff9a7972e</vt:lpwstr>
  </property>
  <property fmtid="{D5CDD505-2E9C-101B-9397-08002B2CF9AE}" pid="7" name="MSIP_Label_3bb815c3-1286-463b-8c37-10c6caafc5c1_ActionId">
    <vt:lpwstr>d5f7cf35-f63a-4f74-9353-d4525a08efea</vt:lpwstr>
  </property>
  <property fmtid="{D5CDD505-2E9C-101B-9397-08002B2CF9AE}" pid="8" name="MSIP_Label_3bb815c3-1286-463b-8c37-10c6caafc5c1_ContentBits">
    <vt:lpwstr>0</vt:lpwstr>
  </property>
  <property fmtid="{D5CDD505-2E9C-101B-9397-08002B2CF9AE}" pid="9" name="MSIP_Label_3bb815c3-1286-463b-8c37-10c6caafc5c1_Tag">
    <vt:lpwstr>50, 3, 0, 1</vt:lpwstr>
  </property>
</Properties>
</file>